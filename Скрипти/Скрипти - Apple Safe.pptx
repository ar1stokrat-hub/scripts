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 Mon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Mono-boldItalic.fntdata"/><Relationship Id="rId10" Type="http://schemas.openxmlformats.org/officeDocument/2006/relationships/font" Target="fonts/RobotoMono-italic.fntdata"/><Relationship Id="rId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3a8129d7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3a8129d7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2871950" y="879250"/>
            <a:ext cx="6018600" cy="3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“На телефон гарантія 1 місяць на заводські дефекти, давайте одразу продовжимо до цілого року плюс безкоштовно замінимо акумулятор протягом року, коли він 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зноситься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. Разом з телефоном це буде … грн. Робити?”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заперечення:</a:t>
            </a:r>
            <a:endParaRPr b="1"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5100" lvl="0" marL="269999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Roboto Mono"/>
              <a:buChar char="-"/>
            </a:pPr>
            <a:r>
              <a:rPr i="1" lang="uk" sz="1100">
                <a:latin typeface="Roboto Mono"/>
                <a:ea typeface="Roboto Mono"/>
                <a:cs typeface="Roboto Mono"/>
                <a:sym typeface="Roboto Mono"/>
              </a:rPr>
              <a:t>“Це вигідно, так як тільки замінити акумулятор коштує… грн, а це значно дорожче ніж гарантія. Акумулятор має властивість зношуватись, втрачає 8-10% ємності за рік і він не буде тримати, як новий. А так прийдете і ми замінимо його безкоштовно. То робити?”</a:t>
            </a:r>
            <a:endParaRPr i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165100" lvl="0" marL="269999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Roboto Mono"/>
              <a:buChar char="-"/>
            </a:pPr>
            <a:r>
              <a:rPr i="1" lang="uk" sz="1100">
                <a:latin typeface="Roboto Mono"/>
                <a:ea typeface="Roboto Mono"/>
                <a:cs typeface="Roboto Mono"/>
                <a:sym typeface="Roboto Mono"/>
              </a:rPr>
              <a:t>“В цю гарантію також входить безкоштовне налаштування пристрою і </a:t>
            </a:r>
            <a:r>
              <a:rPr i="1" lang="uk" sz="1100">
                <a:latin typeface="Roboto Mono"/>
                <a:ea typeface="Roboto Mono"/>
                <a:cs typeface="Roboto Mono"/>
                <a:sym typeface="Roboto Mono"/>
              </a:rPr>
              <a:t>дзеркальне</a:t>
            </a:r>
            <a:r>
              <a:rPr i="1" lang="uk" sz="1100">
                <a:latin typeface="Roboto Mono"/>
                <a:ea typeface="Roboto Mono"/>
                <a:cs typeface="Roboto Mono"/>
                <a:sym typeface="Roboto Mono"/>
              </a:rPr>
              <a:t> перенесення даних, яке окремо коштує 999 грн. Тобто ви маєте цілий рік гарантії, безкоштовну заміну акумулятора на новий оригінальної ємності і економите тисячу гривень на налаштуванні. То що кажете?”</a:t>
            </a:r>
            <a:endParaRPr i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511400" y="30600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Послуга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8351" y="4072675"/>
            <a:ext cx="4917900" cy="7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p14"/>
          <p:cNvSpPr txBox="1"/>
          <p:nvPr/>
        </p:nvSpPr>
        <p:spPr>
          <a:xfrm>
            <a:off x="3511400" y="1089475"/>
            <a:ext cx="4778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9200"/>
              </a:buClr>
              <a:buSzPts val="1200"/>
              <a:buFont typeface="Roboto Mono"/>
              <a:buChar char="■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Гарантія на 1 рік, замість місяця.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9200"/>
              </a:buClr>
              <a:buSzPts val="1200"/>
              <a:buFont typeface="Roboto Mono"/>
              <a:buChar char="■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Заміна акумулятора безкоштовно протягом року.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9200"/>
              </a:buClr>
              <a:buSzPts val="1200"/>
              <a:buFont typeface="Roboto Mono"/>
              <a:buChar char="■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Налаштування входять у вартість.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9200"/>
              </a:buClr>
              <a:buSzPts val="1200"/>
              <a:buFont typeface="Roboto Mono"/>
              <a:buChar char="■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Перенесення інформації входить у вартість.</a:t>
            </a:r>
            <a:endParaRPr sz="1200">
              <a:solidFill>
                <a:srgbClr val="1C4587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3592900" y="43157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Переваги 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8651" y="4072675"/>
            <a:ext cx="4917900" cy="7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