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00602c93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00602c93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c624da7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c624da7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6ee41260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6ee41260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7c6627807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7c6627807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2833800" y="776525"/>
            <a:ext cx="6157800" cy="29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Samsung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При презентації 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Samsung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обов'язково 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вказувати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суму знижки </a:t>
            </a: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сертифікату та кешбек.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b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“Сертифікат” - не говоріть, замініть на </a:t>
            </a: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“Знижка”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 </a:t>
            </a:r>
            <a:b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“Кешбек/бонус” - не говоріть, замініть на </a:t>
            </a: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“Повернеться *200 гривень”.</a:t>
            </a:r>
            <a:endParaRPr b="1" sz="1200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“На цей телефон у вас є знижка * грн, та ще * грн вам повернеться на карточку клієнта. Це найкраща пропозиція в *Місто. Підходить? … Давати?”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Інші вендора</a:t>
            </a:r>
            <a:endParaRPr b="1" sz="1200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“На цей телефон рік гарантії також з цього телефону повернеться *150 грн на вашу карту клієнта. Давати?”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3751" y="407100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3542850" y="27372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Презентація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p14"/>
          <p:cNvSpPr txBox="1"/>
          <p:nvPr/>
        </p:nvSpPr>
        <p:spPr>
          <a:xfrm>
            <a:off x="2853775" y="1006350"/>
            <a:ext cx="5987400" cy="17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Обмін (якщо стан підлягає обміну)</a:t>
            </a: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1200">
              <a:solidFill>
                <a:srgbClr val="2C80E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C80E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“До речі у нас є обмін, ми купуємо ваш телефон і новий вам вийде дешевше на цю суму. Давайте вам скажу скільки буде вартувати. Яка у вас модель?”</a:t>
            </a:r>
            <a:endParaRPr i="1"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Підводите клієнта до каси і підраховуєте вартість, питання</a:t>
            </a:r>
            <a: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-</a:t>
            </a:r>
            <a: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рішення.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8526" y="411120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>
            <a:off x="3477625" y="31285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Перше опрацювання заперечення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" name="Google Shape;73;p15"/>
          <p:cNvSpPr txBox="1"/>
          <p:nvPr/>
        </p:nvSpPr>
        <p:spPr>
          <a:xfrm>
            <a:off x="2806825" y="948238"/>
            <a:ext cx="59874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У вас є наша картка клієнта?</a:t>
            </a:r>
            <a:endParaRPr b="1" sz="1200">
              <a:solidFill>
                <a:srgbClr val="2C80E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Якщо є:</a:t>
            </a:r>
            <a:endParaRPr b="1" sz="1200">
              <a:solidFill>
                <a:srgbClr val="2C80E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“Скажіть будь ласка ваш номер телефону, скажу яка у вас буде знижка”.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Перевіряєм наявність бонусів, персоналізованих акційних пропозицій, озвучуєте, питаєте.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Якщо немає бонусів, </a:t>
            </a: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персоналізованих акційних пропозицій:</a:t>
            </a:r>
            <a:endParaRPr b="1" sz="1200">
              <a:solidFill>
                <a:srgbClr val="2C80E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“Наразі у вас немає бонусів, та від цієї покупки вам повернеться * грн. То давати?”</a:t>
            </a:r>
            <a:endParaRPr i="1"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Немає карти: </a:t>
            </a:r>
            <a:endParaRPr b="1" sz="1200">
              <a:solidFill>
                <a:srgbClr val="2C80E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“Я вам зроблю карту клієнта, і вам повернеться з цього телефону * грн. Підходить?...Давати?”</a:t>
            </a:r>
            <a:b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1576" y="405175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3430675" y="31537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Друге о</a:t>
            </a: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працювання заперечення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" name="Google Shape;82;p16"/>
          <p:cNvSpPr txBox="1"/>
          <p:nvPr/>
        </p:nvSpPr>
        <p:spPr>
          <a:xfrm>
            <a:off x="2806825" y="818175"/>
            <a:ext cx="59874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Скрипт</a:t>
            </a: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1200">
              <a:solidFill>
                <a:srgbClr val="2C80E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“До речі, в нас можна придбати в оплату частинами. Розділяємо суму до 12 платежів, по кишені не б’є, а також ви отримуєте повну гарантію, яка захищає навіть у випадку розбиття чи утоплення телефону. Оформляємо на місці за 5 хвилин. Яким банком ви користуєтесь?”.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Якщо називають банк:</a:t>
            </a:r>
            <a:endParaRPr b="1" sz="1200">
              <a:solidFill>
                <a:srgbClr val="2C80E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Дозвольте</a:t>
            </a: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Ваш телефон, я гляну чи є у вас ліміт на оплату частинами та одразу порахуємо місячний платіж. На який термін хотіли б?”</a:t>
            </a:r>
            <a:endParaRPr i="1"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Якщо отримуємо відмову або негативну реакцію</a:t>
            </a: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endParaRPr b="1" sz="1200">
              <a:solidFill>
                <a:srgbClr val="2C80E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В такому випадку опрацьовувати заперечення не потрібно. Переходимо до наступного пункту.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1576" y="406350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3430675" y="31537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Третє </a:t>
            </a: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заперечення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" name="Google Shape;91;p17"/>
          <p:cNvSpPr txBox="1"/>
          <p:nvPr/>
        </p:nvSpPr>
        <p:spPr>
          <a:xfrm>
            <a:off x="2965700" y="1003150"/>
            <a:ext cx="59874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А що саме вам не підійшло</a:t>
            </a: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?</a:t>
            </a:r>
            <a:endParaRPr b="1" sz="1200">
              <a:solidFill>
                <a:srgbClr val="2C80E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Заборонено:</a:t>
            </a:r>
            <a: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- </a:t>
            </a: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“А в чому сумніваєтесь?”</a:t>
            </a:r>
            <a:b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Замініть:</a:t>
            </a:r>
            <a: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- </a:t>
            </a: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“А що не підійшло?”</a:t>
            </a:r>
            <a:b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b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Ціль:</a:t>
            </a: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Виявити істинне заперечення.</a:t>
            </a:r>
            <a: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br>
              <a:rPr i="1"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endParaRPr i="1"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uk" sz="1200">
                <a:solidFill>
                  <a:srgbClr val="2C80E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P.S.</a:t>
            </a:r>
            <a: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uk" sz="12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Якщо старий телефон обміну не підлягає, то починайте з другого опрацювання.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8351" y="407060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3257450" y="337850"/>
            <a:ext cx="4739700" cy="6180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Четверте о</a:t>
            </a: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працювання заперечення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