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 Mon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Mono-boldItalic.fntdata"/><Relationship Id="rId10" Type="http://schemas.openxmlformats.org/officeDocument/2006/relationships/font" Target="fonts/RobotoMono-italic.fntdata"/><Relationship Id="rId9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Mon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600602c93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600602c93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hyperlink" Target="https://youtube.com/shorts/BBGayZQB7KM?feature=share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hyperlink" Target="https://www.youtube.com/shorts/RyVKxIBhv7Q" TargetMode="External"/><Relationship Id="rId5" Type="http://schemas.openxmlformats.org/officeDocument/2006/relationships/hyperlink" Target="https://www.youtube.com/shorts/wO5hGJUB6Ww" TargetMode="External"/><Relationship Id="rId6" Type="http://schemas.openxmlformats.org/officeDocument/2006/relationships/hyperlink" Target="https://www.youtube.com/shorts/y2jy5c7ibsc" TargetMode="Externa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2C80E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" name="Google Shape;55;p13"/>
          <p:cNvSpPr txBox="1"/>
          <p:nvPr/>
        </p:nvSpPr>
        <p:spPr>
          <a:xfrm>
            <a:off x="2918450" y="837600"/>
            <a:ext cx="57240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26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“Його ціна … грн, це найкраща ціна в *Місто. В цю ціну входить гарантія на місяць, також нарахується … грн кешбеку. Давати?”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26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</a:rPr>
              <a:t>Основа, яку має містити презентація:</a:t>
            </a: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66201" lvl="0" marL="360001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80E5"/>
              </a:buClr>
              <a:buSzPts val="1200"/>
              <a:buFont typeface="Roboto Mono"/>
              <a:buAutoNum type="arabicPeriod"/>
            </a:pP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Найкраща ціна.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66201" lvl="0" marL="360001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80E5"/>
              </a:buClr>
              <a:buSzPts val="1200"/>
              <a:buFont typeface="Roboto Mono"/>
              <a:buAutoNum type="arabicPeriod"/>
            </a:pP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В ціну входить місяць гарантії.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66201" lvl="0" marL="360001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80E5"/>
              </a:buClr>
              <a:buSzPts val="1200"/>
              <a:buFont typeface="Roboto Mono"/>
              <a:buAutoNum type="arabicPeriod"/>
            </a:pP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Кешбек. 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</a:rPr>
              <a:t>Дивись </a:t>
            </a:r>
            <a:r>
              <a:rPr b="1" lang="uk" sz="1200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b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uk" sz="1200" u="sng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Відео</a:t>
            </a:r>
            <a:endParaRPr b="1" sz="1200" u="sng">
              <a:solidFill>
                <a:srgbClr val="2C80E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208650" y="3425950"/>
            <a:ext cx="49179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rgbClr val="1C4587"/>
                </a:solidFill>
              </a:rPr>
              <a:t>            </a:t>
            </a:r>
            <a:endParaRPr sz="12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68351" y="3057725"/>
            <a:ext cx="4917900" cy="77715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/>
          <p:nvPr/>
        </p:nvSpPr>
        <p:spPr>
          <a:xfrm>
            <a:off x="3257450" y="273725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2C80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Презентація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404025" y="4242225"/>
            <a:ext cx="82125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Якщо телефон вживаний і має дефекти (не працює Face ID, NFC, True Tone, плями на екрані, є помилка АКБ і так далі) - при продажі обов'язково проговоріть це клієнту. 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2C80E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6" name="Google Shape;66;p14"/>
          <p:cNvSpPr txBox="1"/>
          <p:nvPr/>
        </p:nvSpPr>
        <p:spPr>
          <a:xfrm>
            <a:off x="2865000" y="913000"/>
            <a:ext cx="5987400" cy="29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Якщо в клієнта ще є сумніви - опрацьовуємо заперечення послугою обміну. Підводимо клієнта до каси для того, щоб озвучити вартість з обміном. </a:t>
            </a:r>
            <a:r>
              <a:rPr b="1" lang="uk" sz="1200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</a:rPr>
              <a:t>Дивись -</a:t>
            </a:r>
            <a:r>
              <a:rPr b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uk" sz="1200" u="sng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Відео</a:t>
            </a:r>
            <a:endParaRPr b="1" sz="1200">
              <a:solidFill>
                <a:srgbClr val="2C80E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Якщо клієнт хоче ще піти подивитись: гуглимо, показуємо ціни у конкурентів на смартфон, показуємо вартість аксесуарів порівнюючи із нашими (блочок, скло тощо) - у нас вигідніше. </a:t>
            </a:r>
            <a:r>
              <a:rPr b="1" lang="uk" sz="1200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</a:rPr>
              <a:t>Дивись -</a:t>
            </a:r>
            <a:r>
              <a:rPr b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uk" sz="1200" u="sng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Відео</a:t>
            </a:r>
            <a:endParaRPr b="1" sz="1200">
              <a:solidFill>
                <a:srgbClr val="2C80E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Якщо клієнту потрібно ще обдумати - пишемо на візитці вартість телефону, вартість загальної суми із аксесуарами  для того, щоб міг порівняти самостійно з іншими магазинами і зрозуміти, що у нас вигідніше. </a:t>
            </a:r>
            <a:r>
              <a:rPr b="1" lang="uk" sz="1200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</a:rPr>
              <a:t>Дивись -</a:t>
            </a:r>
            <a:r>
              <a:rPr b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uk" sz="1200" u="sng">
                <a:solidFill>
                  <a:srgbClr val="2C80E5"/>
                </a:solidFill>
                <a:latin typeface="Roboto Mono"/>
                <a:ea typeface="Roboto Mono"/>
                <a:cs typeface="Roboto Mono"/>
                <a:sym typeface="Roboto Mon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Відео</a:t>
            </a:r>
            <a:endParaRPr b="1" sz="1200">
              <a:solidFill>
                <a:srgbClr val="2C80E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68351" y="4072675"/>
            <a:ext cx="4917900" cy="77715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/>
          <p:nvPr/>
        </p:nvSpPr>
        <p:spPr>
          <a:xfrm>
            <a:off x="3257450" y="361325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2C80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Опрацювання заперечення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