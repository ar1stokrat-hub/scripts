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 Mon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Mono-bold.fntdata"/><Relationship Id="rId12" Type="http://schemas.openxmlformats.org/officeDocument/2006/relationships/font" Target="fonts/RobotoMon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Mono-boldItalic.fntdata"/><Relationship Id="rId14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a4a29c3e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a4a29c3e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e67b3ea629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e67b3ea629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e67b3ea62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e67b3ea62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5713df45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f5713df45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8a927abe9_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68a927abe9_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55" name="Google Shape;55;p13"/>
          <p:cNvSpPr txBox="1"/>
          <p:nvPr/>
        </p:nvSpPr>
        <p:spPr>
          <a:xfrm>
            <a:off x="2951225" y="846702"/>
            <a:ext cx="5690700" cy="3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“Повну гарантію зробити на рік чи одразу на два? Розбився, втопився, будь що сталось - отримуєте безкоштовний ремонт, або відшкодовуємо 75% вартості. З двома роками все разом … грн, з роком всього … грн”.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заперечень:</a:t>
            </a:r>
            <a:endParaRPr b="1"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9851" lvl="0" marL="360001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“Це вигідно, так як заміна екрана на вашому телефоні коштує …грн, а так ремонтуємо безкоштовно. Плюс в цю гарантію входить пов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не налаштування пристрою і перенесення даних. То що скажете?”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9851" lvl="0" marL="360001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“Це техніка, тому статись може будь-що. Навіть банально - йшли по вулиці, хтось зачепив і телефон випав з рук, від цього ніхто не застрахований, а так прийшли і ми в найкоротші терміни відремонтували безкоштовно. То зробити?”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426725" y="34390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Смарт захист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14"/>
          <p:cNvSpPr txBox="1"/>
          <p:nvPr/>
        </p:nvSpPr>
        <p:spPr>
          <a:xfrm>
            <a:off x="2951225" y="846700"/>
            <a:ext cx="56907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заперечень:</a:t>
            </a:r>
            <a:endParaRPr b="1"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57051" lvl="0" marL="45720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“Зазвичай телефон падає на землю куточком, тому крім дисплею розбивається і задня кришка. Вартість таких ремонтів становить ледь не вартість нового телефону, а з цією гарантією ви завжди залишаєтесь або з цілим телефоном або з грішми. То робити?”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9851" lvl="0" marL="360001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“Давайте зробимо хоча б на рік, щоб ви були захищені, а далі ви зможете продовжити її. Більше того, якщо ви не скористаєтесь повною гарантією протягом терміну, то я поверну Вам 500 грн знижки на аксесуари або продовження гарантії, це максимально вигідно. То робити?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426725" y="34390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Смарт захист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2810" l="0" r="0" t="-2810"/>
          <a:stretch/>
        </p:blipFill>
        <p:spPr>
          <a:xfrm>
            <a:off x="152400" y="14352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1" name="Google Shape;71;p15"/>
          <p:cNvSpPr txBox="1"/>
          <p:nvPr/>
        </p:nvSpPr>
        <p:spPr>
          <a:xfrm>
            <a:off x="3039350" y="1041975"/>
            <a:ext cx="5812500" cy="23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6200" lvl="0" marL="269999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“Телефон від вірусів захищаємо на рік чи одразу на два?”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заперечення:</a:t>
            </a:r>
            <a:endParaRPr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“На відміну від безкоштовних аналогів, цей актуалізує базу загроз щодня, тому ваш пристрій буде захищений від будь-якого типу загроз, а дані залишаються конфіденційними. Робим?”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0" lvl="0" marL="269999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“Він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не тільки захищає Ваш телефон , а й стабілізує та пришвидшує роботу, не буде тормозити. То поставити?”</a:t>
            </a:r>
            <a:endParaRPr i="1" sz="1200">
              <a:solidFill>
                <a:srgbClr val="1C4587"/>
              </a:solidFill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651" y="4155150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3297750" y="420200"/>
            <a:ext cx="4739700" cy="5631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19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Антивірус </a:t>
            </a:r>
            <a:endParaRPr sz="19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44331" y="288662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" name="Google Shape;81;p16"/>
          <p:cNvSpPr txBox="1"/>
          <p:nvPr/>
        </p:nvSpPr>
        <p:spPr>
          <a:xfrm>
            <a:off x="2934525" y="946575"/>
            <a:ext cx="5929500" cy="26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“Рекомендую зробити гарантію одразу на 2 роки, тому що різниця всього …грн, а телефон ви берете не на день, і не на тиждень. Краще захиститись на весь період користування телефоном. Зробити на 2?”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Кроссел:</a:t>
            </a:r>
            <a:r>
              <a:rPr b="1" lang="uk" sz="1200">
                <a:solidFill>
                  <a:srgbClr val="92BD1C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b="1" sz="1200">
              <a:solidFill>
                <a:srgbClr val="92BD1C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66200" lvl="0" marL="26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“Захистити Вас від 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спливаючих</a:t>
            </a:r>
            <a:r>
              <a:rPr i="1" lang="uk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реклам в телефоні? Є ліцензійний блокувальник будь яких реклам, і ви зможете комфортно користуватись телефоном без напрягаючого контенту, який вам не потрібен. Ліцензія на 1 рік всього лише … грн. Ставити?”</a:t>
            </a:r>
            <a:endParaRPr i="1"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650" y="4108500"/>
            <a:ext cx="4917900" cy="6659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/>
          <p:nvPr/>
        </p:nvSpPr>
        <p:spPr>
          <a:xfrm>
            <a:off x="3297750" y="38037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Апселл + Кросселл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0" name="Google Shape;90;p17"/>
          <p:cNvSpPr txBox="1"/>
          <p:nvPr/>
        </p:nvSpPr>
        <p:spPr>
          <a:xfrm>
            <a:off x="2934525" y="1034063"/>
            <a:ext cx="5929500" cy="20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А у вас є ОЧ?</a:t>
            </a:r>
            <a:endParaRPr b="1" sz="1200">
              <a:solidFill>
                <a:srgbClr val="ED92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171450" lvl="0" marL="26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rgbClr val="151515"/>
                </a:solidFill>
                <a:latin typeface="Roboto Mono"/>
                <a:ea typeface="Roboto Mono"/>
                <a:cs typeface="Roboto Mono"/>
                <a:sym typeface="Roboto Mono"/>
              </a:rPr>
              <a:t>“Так, є. На який термін хотіли б?”</a:t>
            </a:r>
            <a:endParaRPr i="1" sz="1200">
              <a:solidFill>
                <a:srgbClr val="15151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highlight>
                  <a:srgbClr val="FFFFFF"/>
                </a:highlight>
                <a:latin typeface="Roboto Mono"/>
                <a:ea typeface="Roboto Mono"/>
                <a:cs typeface="Roboto Mono"/>
                <a:sym typeface="Roboto Mono"/>
              </a:rPr>
              <a:t>На 6 місяців</a:t>
            </a:r>
            <a:endParaRPr b="1" sz="1200">
              <a:solidFill>
                <a:srgbClr val="ED9200"/>
              </a:solidFill>
              <a:highlight>
                <a:srgbClr val="FFFFFF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indent="-171450" lvl="0" marL="26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1200"/>
              <a:buFont typeface="Roboto Mono"/>
              <a:buChar char="-"/>
            </a:pPr>
            <a:r>
              <a:rPr i="1" lang="uk" sz="1200">
                <a:solidFill>
                  <a:srgbClr val="151515"/>
                </a:solidFill>
                <a:latin typeface="Roboto Mono"/>
                <a:ea typeface="Roboto Mono"/>
                <a:cs typeface="Roboto Mono"/>
                <a:sym typeface="Roboto Mono"/>
              </a:rPr>
              <a:t>“Тоді все разом (телефон, скло, чохол) коштує … грн на місяць і у вас буде повна гарантія на 1 рік. Розбили, втопили, будь-що сталось з пристроєм - безкоштовний ремонт або повертаємо 75% вартості пристрою. Оформляємо?”</a:t>
            </a:r>
            <a:endParaRPr sz="12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3208650" y="3425950"/>
            <a:ext cx="49179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1800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>
                <a:solidFill>
                  <a:srgbClr val="1C4587"/>
                </a:solidFill>
              </a:rPr>
              <a:t>            </a:t>
            </a:r>
            <a:endParaRPr sz="1200">
              <a:solidFill>
                <a:srgbClr val="1C458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8651" y="4112025"/>
            <a:ext cx="4917900" cy="77715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>
            <a:off x="3297750" y="380375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ОЧ + Смарт Захист</a:t>
            </a:r>
            <a:endParaRPr sz="20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3175"/>
            <a:ext cx="8839200" cy="4788775"/>
          </a:xfrm>
          <a:prstGeom prst="rect">
            <a:avLst/>
          </a:prstGeom>
          <a:noFill/>
          <a:ln cap="flat" cmpd="sng" w="76200">
            <a:solidFill>
              <a:srgbClr val="ED92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" name="Google Shape;100;p18"/>
          <p:cNvSpPr txBox="1"/>
          <p:nvPr/>
        </p:nvSpPr>
        <p:spPr>
          <a:xfrm>
            <a:off x="2951225" y="846700"/>
            <a:ext cx="5690700" cy="3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6510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Повну гарантію зробити на рік чи одразу на два? Розбився, втопився, будь що сталось - міняємо на такий самий.”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rgbClr val="ED9200"/>
                </a:solidFill>
                <a:latin typeface="Roboto Mono"/>
                <a:ea typeface="Roboto Mono"/>
                <a:cs typeface="Roboto Mono"/>
                <a:sym typeface="Roboto Mono"/>
              </a:rPr>
              <a:t>Опрацювання заперечень будуємо на типових поломках товару:</a:t>
            </a:r>
            <a:endParaRPr b="1" sz="1200">
              <a:solidFill>
                <a:srgbClr val="ED92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9850" lvl="0" marL="269999" rtl="0" algn="just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“Це навушники, трапляється всяке. Десь впали чи сіли на них - якщо ламається дуга або перетирається кабель, то ремонту вони фактично не підлягають і потрібно купувати нові знову за …грн. А так - прийшли до нас і обміняли на нові. Робим?”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9850" lvl="0" marL="26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“Якщо кабель перетреться або перестане працювати просто прийдете до нас і я дам вам такий самий новий. Оформляю?”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9850" lvl="0" marL="26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“Перше, що перегорає при “стрибках” напруги це зарядки, тому що в них немає захисту від перепадів напруг. Якщо таке станеться - прийдете і 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обміняю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на новий. Робити?”</a:t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159850" lvl="0" marL="26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 Mono"/>
              <a:buChar char="-"/>
            </a:pP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“Оскільки берете флешку в машину раджу одразу захистити, тому що часто буває що десь зачепилась і 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ламається</a:t>
            </a:r>
            <a:r>
              <a:rPr i="1" lang="uk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прямо в магнітолі. А так прийдете і поміняєте безкоштовно. Робити?”</a:t>
            </a:r>
            <a:endParaRPr sz="10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3426725" y="343900"/>
            <a:ext cx="4739700" cy="502800"/>
          </a:xfrm>
          <a:prstGeom prst="roundRect">
            <a:avLst>
              <a:gd fmla="val 16667" name="adj"/>
            </a:avLst>
          </a:prstGeom>
          <a:solidFill>
            <a:srgbClr val="ED92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uk" sz="200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Основний + Екстра-заміна</a:t>
            </a:r>
            <a:endParaRPr sz="200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882606">
            <a:off x="1003581" y="2658374"/>
            <a:ext cx="248586" cy="176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